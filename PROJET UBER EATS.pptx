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fa6fa7f22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fa6fa7f22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f9b713e33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f9b713e33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9b713e33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9b713e33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9b713e336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f9b713e33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9b713e33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9b713e33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9b725c23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9b725c23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9b725c23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9b725c23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f9b713e33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f9b713e33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2d5b655441c29aa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2d5b655441c29aa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46625" y="265250"/>
            <a:ext cx="7251600" cy="14178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5000">
                <a:solidFill>
                  <a:schemeClr val="dk2"/>
                </a:solidFill>
                <a:latin typeface="Georgia"/>
                <a:ea typeface="Georgia"/>
                <a:cs typeface="Georgia"/>
                <a:sym typeface="Georgia"/>
              </a:rPr>
              <a:t>PROJET UBER EATS</a:t>
            </a:r>
            <a:endParaRPr sz="5000">
              <a:solidFill>
                <a:schemeClr val="dk2"/>
              </a:solidFill>
              <a:latin typeface="Georgia"/>
              <a:ea typeface="Georgia"/>
              <a:cs typeface="Georgia"/>
              <a:sym typeface="Georgia"/>
            </a:endParaRPr>
          </a:p>
        </p:txBody>
      </p:sp>
      <p:pic>
        <p:nvPicPr>
          <p:cNvPr id="55" name="Google Shape;55;p13" title="Logo UBER EATS.jpg"/>
          <p:cNvPicPr preferRelativeResize="0"/>
          <p:nvPr/>
        </p:nvPicPr>
        <p:blipFill>
          <a:blip r:embed="rId3">
            <a:alphaModFix/>
          </a:blip>
          <a:stretch>
            <a:fillRect/>
          </a:stretch>
        </p:blipFill>
        <p:spPr>
          <a:xfrm>
            <a:off x="87475" y="2794500"/>
            <a:ext cx="2124125" cy="2124125"/>
          </a:xfrm>
          <a:prstGeom prst="rect">
            <a:avLst/>
          </a:prstGeom>
          <a:noFill/>
          <a:ln>
            <a:noFill/>
          </a:ln>
        </p:spPr>
      </p:pic>
      <p:pic>
        <p:nvPicPr>
          <p:cNvPr id="56" name="Google Shape;56;p13" title="jedha-logo.png"/>
          <p:cNvPicPr preferRelativeResize="0"/>
          <p:nvPr/>
        </p:nvPicPr>
        <p:blipFill>
          <a:blip r:embed="rId4">
            <a:alphaModFix/>
          </a:blip>
          <a:stretch>
            <a:fillRect/>
          </a:stretch>
        </p:blipFill>
        <p:spPr>
          <a:xfrm>
            <a:off x="6342000" y="2299000"/>
            <a:ext cx="2697574" cy="2697575"/>
          </a:xfrm>
          <a:prstGeom prst="rect">
            <a:avLst/>
          </a:prstGeom>
          <a:noFill/>
          <a:ln>
            <a:noFill/>
          </a:ln>
        </p:spPr>
      </p:pic>
      <p:sp>
        <p:nvSpPr>
          <p:cNvPr id="57" name="Google Shape;57;p13"/>
          <p:cNvSpPr txBox="1"/>
          <p:nvPr/>
        </p:nvSpPr>
        <p:spPr>
          <a:xfrm>
            <a:off x="2614250" y="3274713"/>
            <a:ext cx="3610800" cy="8961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fr" sz="2000">
                <a:solidFill>
                  <a:schemeClr val="dk2"/>
                </a:solidFill>
              </a:rPr>
              <a:t>Elève : Patrick GROUILLET</a:t>
            </a:r>
            <a:endParaRPr b="1" sz="2000">
              <a:solidFill>
                <a:schemeClr val="dk2"/>
              </a:solidFill>
            </a:endParaRPr>
          </a:p>
          <a:p>
            <a:pPr indent="0" lvl="0" marL="0" rtl="0" algn="l">
              <a:spcBef>
                <a:spcPts val="0"/>
              </a:spcBef>
              <a:spcAft>
                <a:spcPts val="0"/>
              </a:spcAft>
              <a:buNone/>
            </a:pPr>
            <a:r>
              <a:rPr b="1" lang="fr" sz="2000">
                <a:solidFill>
                  <a:schemeClr val="dk2"/>
                </a:solidFill>
              </a:rPr>
              <a:t>Session : DAFS-FT-17</a:t>
            </a:r>
            <a:endParaRPr b="1" sz="20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1151400" y="53825"/>
            <a:ext cx="6841200" cy="466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1200"/>
              </a:spcAft>
              <a:buClr>
                <a:schemeClr val="dk1"/>
              </a:buClr>
              <a:buSzPts val="990"/>
              <a:buFont typeface="Arial"/>
              <a:buNone/>
            </a:pPr>
            <a:r>
              <a:rPr b="1" lang="fr" sz="2100"/>
              <a:t>PROBLEMATIQUE</a:t>
            </a:r>
            <a:endParaRPr b="1" sz="2190"/>
          </a:p>
        </p:txBody>
      </p:sp>
      <p:sp>
        <p:nvSpPr>
          <p:cNvPr id="63" name="Google Shape;63;p14"/>
          <p:cNvSpPr txBox="1"/>
          <p:nvPr>
            <p:ph idx="1" type="body"/>
          </p:nvPr>
        </p:nvSpPr>
        <p:spPr>
          <a:xfrm>
            <a:off x="311700" y="584275"/>
            <a:ext cx="8520600" cy="17886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fr" sz="1400"/>
              <a:t>UBER EATS est une société dont l’activité est de livrer des plats à des clients à domicile ou au travail.</a:t>
            </a:r>
            <a:endParaRPr sz="1400"/>
          </a:p>
          <a:p>
            <a:pPr indent="0" lvl="0" marL="0" rtl="0" algn="just">
              <a:spcBef>
                <a:spcPts val="1200"/>
              </a:spcBef>
              <a:spcAft>
                <a:spcPts val="0"/>
              </a:spcAft>
              <a:buNone/>
            </a:pPr>
            <a:r>
              <a:rPr lang="fr" sz="1400"/>
              <a:t>L’équipe UBER EATS a relevé que le point de détresse principal rencontré est que parfois les chauffeurs ne sont pas où les clients en ont besoin. Il en résulte un temps d’attente qui peut amener ces clients à annuler leur commande.</a:t>
            </a:r>
            <a:endParaRPr sz="1400"/>
          </a:p>
          <a:p>
            <a:pPr indent="0" lvl="0" marL="0" rtl="0" algn="just">
              <a:spcBef>
                <a:spcPts val="1200"/>
              </a:spcBef>
              <a:spcAft>
                <a:spcPts val="1200"/>
              </a:spcAft>
              <a:buNone/>
            </a:pPr>
            <a:r>
              <a:rPr lang="fr" sz="1400"/>
              <a:t>L’objectif d’UBER est de déterminer en temps réel les “points chauds” en fonction du jour et de l’heure.</a:t>
            </a:r>
            <a:endParaRPr sz="1400"/>
          </a:p>
        </p:txBody>
      </p:sp>
      <p:sp>
        <p:nvSpPr>
          <p:cNvPr id="64" name="Google Shape;64;p14"/>
          <p:cNvSpPr txBox="1"/>
          <p:nvPr/>
        </p:nvSpPr>
        <p:spPr>
          <a:xfrm>
            <a:off x="1391200" y="3087950"/>
            <a:ext cx="6841200" cy="10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65" name="Google Shape;65;p14"/>
          <p:cNvSpPr txBox="1"/>
          <p:nvPr>
            <p:ph type="title"/>
          </p:nvPr>
        </p:nvSpPr>
        <p:spPr>
          <a:xfrm>
            <a:off x="1066625" y="2571825"/>
            <a:ext cx="6853800" cy="466800"/>
          </a:xfrm>
          <a:prstGeom prst="rect">
            <a:avLst/>
          </a:prstGeom>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SzPts val="891"/>
              <a:buNone/>
            </a:pPr>
            <a:r>
              <a:rPr b="1" lang="fr" sz="2118"/>
              <a:t>PRESENTATION DE L’ETUDE</a:t>
            </a:r>
            <a:endParaRPr b="1" sz="2118"/>
          </a:p>
        </p:txBody>
      </p:sp>
      <p:sp>
        <p:nvSpPr>
          <p:cNvPr id="66" name="Google Shape;66;p14"/>
          <p:cNvSpPr txBox="1"/>
          <p:nvPr>
            <p:ph idx="1" type="body"/>
          </p:nvPr>
        </p:nvSpPr>
        <p:spPr>
          <a:xfrm>
            <a:off x="311700" y="3087950"/>
            <a:ext cx="8520600" cy="2104800"/>
          </a:xfrm>
          <a:prstGeom prst="rect">
            <a:avLst/>
          </a:prstGeom>
        </p:spPr>
        <p:txBody>
          <a:bodyPr anchorCtr="0" anchor="t" bIns="91425" lIns="91425" spcFirstLastPara="1" rIns="91425" wrap="square" tIns="91425">
            <a:normAutofit lnSpcReduction="20000"/>
          </a:bodyPr>
          <a:lstStyle/>
          <a:p>
            <a:pPr indent="0" lvl="0" marL="0" rtl="0" algn="just">
              <a:spcBef>
                <a:spcPts val="0"/>
              </a:spcBef>
              <a:spcAft>
                <a:spcPts val="0"/>
              </a:spcAft>
              <a:buNone/>
            </a:pPr>
            <a:r>
              <a:rPr lang="fr" sz="1400"/>
              <a:t>Les données du dataset proviennent de données relevées sur les quartiers de New-York allant du 01/04/2014 au 30/09/2014.</a:t>
            </a:r>
            <a:endParaRPr sz="1400"/>
          </a:p>
          <a:p>
            <a:pPr indent="0" lvl="0" marL="0" rtl="0" algn="just">
              <a:spcBef>
                <a:spcPts val="1200"/>
              </a:spcBef>
              <a:spcAft>
                <a:spcPts val="0"/>
              </a:spcAft>
              <a:buNone/>
            </a:pPr>
            <a:r>
              <a:rPr lang="fr" sz="1400"/>
              <a:t>Les informations recueillies concernent les points de prises de commandes en indiquant leur latitude et leur longitude afin de les situer avec précision.</a:t>
            </a:r>
            <a:endParaRPr sz="1400"/>
          </a:p>
          <a:p>
            <a:pPr indent="0" lvl="0" marL="0" rtl="0" algn="just">
              <a:spcBef>
                <a:spcPts val="1200"/>
              </a:spcBef>
              <a:spcAft>
                <a:spcPts val="0"/>
              </a:spcAft>
              <a:buNone/>
            </a:pPr>
            <a:r>
              <a:rPr lang="fr" sz="1400"/>
              <a:t>Il faudra établir un algorithme permettant de construire des cartes indiquant les “points chauds” en fonction du jour et de l’heure pour une meilleure représentation visuelle.</a:t>
            </a:r>
            <a:endParaRPr sz="1400"/>
          </a:p>
          <a:p>
            <a:pPr indent="0" lvl="0" marL="0" rtl="0" algn="just">
              <a:spcBef>
                <a:spcPts val="1200"/>
              </a:spcBef>
              <a:spcAft>
                <a:spcPts val="1200"/>
              </a:spcAft>
              <a:buNone/>
            </a:pPr>
            <a:r>
              <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id="71" name="Google Shape;71;p15" title="1 Volume de pickups.png"/>
          <p:cNvPicPr preferRelativeResize="0"/>
          <p:nvPr/>
        </p:nvPicPr>
        <p:blipFill>
          <a:blip r:embed="rId3">
            <a:alphaModFix/>
          </a:blip>
          <a:stretch>
            <a:fillRect/>
          </a:stretch>
        </p:blipFill>
        <p:spPr>
          <a:xfrm>
            <a:off x="0" y="0"/>
            <a:ext cx="9143999" cy="3643900"/>
          </a:xfrm>
          <a:prstGeom prst="rect">
            <a:avLst/>
          </a:prstGeom>
          <a:noFill/>
          <a:ln>
            <a:noFill/>
          </a:ln>
        </p:spPr>
      </p:pic>
      <p:sp>
        <p:nvSpPr>
          <p:cNvPr id="72" name="Google Shape;72;p15"/>
          <p:cNvSpPr txBox="1"/>
          <p:nvPr/>
        </p:nvSpPr>
        <p:spPr>
          <a:xfrm>
            <a:off x="458850" y="3643900"/>
            <a:ext cx="8226300" cy="1355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2400">
                <a:solidFill>
                  <a:schemeClr val="dk2"/>
                </a:solidFill>
              </a:rPr>
              <a:t>Représentation des volumes de commandes ramassées en fonction des jours et heures. On constate ici que la plus grosse affluence est du mardi au jeudi vers 17h00.</a:t>
            </a:r>
            <a:endParaRPr sz="24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pic>
        <p:nvPicPr>
          <p:cNvPr id="77" name="Google Shape;77;p16" title="2 Comparaison coude - silhouette.png"/>
          <p:cNvPicPr preferRelativeResize="0"/>
          <p:nvPr/>
        </p:nvPicPr>
        <p:blipFill>
          <a:blip r:embed="rId3">
            <a:alphaModFix/>
          </a:blip>
          <a:stretch>
            <a:fillRect/>
          </a:stretch>
        </p:blipFill>
        <p:spPr>
          <a:xfrm>
            <a:off x="103925" y="175875"/>
            <a:ext cx="8874776" cy="2999300"/>
          </a:xfrm>
          <a:prstGeom prst="rect">
            <a:avLst/>
          </a:prstGeom>
          <a:noFill/>
          <a:ln>
            <a:noFill/>
          </a:ln>
        </p:spPr>
      </p:pic>
      <p:sp>
        <p:nvSpPr>
          <p:cNvPr id="78" name="Google Shape;78;p16"/>
          <p:cNvSpPr txBox="1"/>
          <p:nvPr/>
        </p:nvSpPr>
        <p:spPr>
          <a:xfrm>
            <a:off x="717925" y="3462050"/>
            <a:ext cx="7884000" cy="13119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2400">
                <a:solidFill>
                  <a:schemeClr val="dk2"/>
                </a:solidFill>
              </a:rPr>
              <a:t>Comparaison des méthodes du “coude” et de la “silhouette” pour trouver le nombre optimal de clusters à utiliser : le résultat optimal est de k = 2.</a:t>
            </a:r>
            <a:endParaRPr sz="24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p17" title="3 Choix eps pour DBSCAN.png"/>
          <p:cNvPicPr preferRelativeResize="0"/>
          <p:nvPr/>
        </p:nvPicPr>
        <p:blipFill>
          <a:blip r:embed="rId3">
            <a:alphaModFix/>
          </a:blip>
          <a:stretch>
            <a:fillRect/>
          </a:stretch>
        </p:blipFill>
        <p:spPr>
          <a:xfrm>
            <a:off x="409412" y="177550"/>
            <a:ext cx="8325174" cy="3714750"/>
          </a:xfrm>
          <a:prstGeom prst="rect">
            <a:avLst/>
          </a:prstGeom>
          <a:noFill/>
          <a:ln>
            <a:noFill/>
          </a:ln>
        </p:spPr>
      </p:pic>
      <p:sp>
        <p:nvSpPr>
          <p:cNvPr id="84" name="Google Shape;84;p17"/>
          <p:cNvSpPr txBox="1"/>
          <p:nvPr/>
        </p:nvSpPr>
        <p:spPr>
          <a:xfrm>
            <a:off x="1101150" y="4087175"/>
            <a:ext cx="6941700" cy="766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2400">
                <a:solidFill>
                  <a:schemeClr val="dk2"/>
                </a:solidFill>
              </a:rPr>
              <a:t>Choix d’eps pour DBSCAN via k-distance plot.</a:t>
            </a:r>
            <a:endParaRPr sz="24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8" title="4 Carte clustering KMeans=2.jpeg"/>
          <p:cNvPicPr preferRelativeResize="0"/>
          <p:nvPr/>
        </p:nvPicPr>
        <p:blipFill>
          <a:blip r:embed="rId3">
            <a:alphaModFix/>
          </a:blip>
          <a:stretch>
            <a:fillRect/>
          </a:stretch>
        </p:blipFill>
        <p:spPr>
          <a:xfrm>
            <a:off x="158200" y="63975"/>
            <a:ext cx="5337025" cy="4985774"/>
          </a:xfrm>
          <a:prstGeom prst="rect">
            <a:avLst/>
          </a:prstGeom>
          <a:noFill/>
          <a:ln>
            <a:noFill/>
          </a:ln>
        </p:spPr>
      </p:pic>
      <p:sp>
        <p:nvSpPr>
          <p:cNvPr id="90" name="Google Shape;90;p18"/>
          <p:cNvSpPr txBox="1"/>
          <p:nvPr/>
        </p:nvSpPr>
        <p:spPr>
          <a:xfrm>
            <a:off x="5373300" y="1968675"/>
            <a:ext cx="3458400" cy="21882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fr" sz="2400">
                <a:solidFill>
                  <a:schemeClr val="dk2"/>
                </a:solidFill>
              </a:rPr>
              <a:t>Carte représentant les clusters déterminés par KMeans autour des centroïdes.</a:t>
            </a:r>
            <a:endParaRPr sz="24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9" title="5 Carte clustering DBSCAN.jpg"/>
          <p:cNvPicPr preferRelativeResize="0"/>
          <p:nvPr/>
        </p:nvPicPr>
        <p:blipFill>
          <a:blip r:embed="rId3">
            <a:alphaModFix/>
          </a:blip>
          <a:stretch>
            <a:fillRect/>
          </a:stretch>
        </p:blipFill>
        <p:spPr>
          <a:xfrm>
            <a:off x="78275" y="163500"/>
            <a:ext cx="5169248" cy="6689624"/>
          </a:xfrm>
          <a:prstGeom prst="rect">
            <a:avLst/>
          </a:prstGeom>
          <a:noFill/>
          <a:ln>
            <a:noFill/>
          </a:ln>
        </p:spPr>
      </p:pic>
      <p:sp>
        <p:nvSpPr>
          <p:cNvPr id="96" name="Google Shape;96;p19"/>
          <p:cNvSpPr txBox="1"/>
          <p:nvPr/>
        </p:nvSpPr>
        <p:spPr>
          <a:xfrm>
            <a:off x="5423600" y="1931700"/>
            <a:ext cx="3552900" cy="12801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fr" sz="2400">
                <a:solidFill>
                  <a:schemeClr val="dk2"/>
                </a:solidFill>
              </a:rPr>
              <a:t>Carte des clustering déterminé par DBSCAN avec eps = 0.05</a:t>
            </a:r>
            <a:endParaRPr sz="24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20" title="6 Densité des pickups.jpg"/>
          <p:cNvPicPr preferRelativeResize="0"/>
          <p:nvPr/>
        </p:nvPicPr>
        <p:blipFill>
          <a:blip r:embed="rId3">
            <a:alphaModFix/>
          </a:blip>
          <a:stretch>
            <a:fillRect/>
          </a:stretch>
        </p:blipFill>
        <p:spPr>
          <a:xfrm>
            <a:off x="94475" y="214899"/>
            <a:ext cx="5273375" cy="6824350"/>
          </a:xfrm>
          <a:prstGeom prst="rect">
            <a:avLst/>
          </a:prstGeom>
          <a:noFill/>
          <a:ln>
            <a:noFill/>
          </a:ln>
        </p:spPr>
      </p:pic>
      <p:sp>
        <p:nvSpPr>
          <p:cNvPr id="102" name="Google Shape;102;p20"/>
          <p:cNvSpPr txBox="1"/>
          <p:nvPr/>
        </p:nvSpPr>
        <p:spPr>
          <a:xfrm>
            <a:off x="5499050" y="1025175"/>
            <a:ext cx="3426900" cy="3281400"/>
          </a:xfrm>
          <a:prstGeom prst="rect">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fr" sz="2400">
                <a:solidFill>
                  <a:schemeClr val="dk2"/>
                </a:solidFill>
              </a:rPr>
              <a:t>Carte indiquant les “points chauds” (hotspots) pour un créneau donné.</a:t>
            </a:r>
            <a:endParaRPr sz="2400">
              <a:solidFill>
                <a:schemeClr val="dk2"/>
              </a:solidFill>
            </a:endParaRPr>
          </a:p>
          <a:p>
            <a:pPr indent="0" lvl="0" marL="0" rtl="0" algn="ctr">
              <a:spcBef>
                <a:spcPts val="0"/>
              </a:spcBef>
              <a:spcAft>
                <a:spcPts val="0"/>
              </a:spcAft>
              <a:buNone/>
            </a:pPr>
            <a:r>
              <a:rPr lang="fr" sz="2400">
                <a:solidFill>
                  <a:schemeClr val="dk2"/>
                </a:solidFill>
              </a:rPr>
              <a:t>L’exemple présenté donne le créneau du vendredi à 18h00. (modifiable au code 28)</a:t>
            </a:r>
            <a:endParaRPr sz="24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nvSpPr>
        <p:spPr>
          <a:xfrm>
            <a:off x="519025" y="4061650"/>
            <a:ext cx="8136600" cy="8832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fr" sz="2400">
                <a:solidFill>
                  <a:schemeClr val="dk2"/>
                </a:solidFill>
              </a:rPr>
              <a:t>Représentation de la situation à 18h00 pour tous les jours de la semaine.</a:t>
            </a:r>
            <a:endParaRPr sz="2400">
              <a:solidFill>
                <a:schemeClr val="dk2"/>
              </a:solidFill>
            </a:endParaRPr>
          </a:p>
        </p:txBody>
      </p:sp>
      <p:pic>
        <p:nvPicPr>
          <p:cNvPr id="108" name="Google Shape;108;p21" title="7 HotSpot de pickups.png"/>
          <p:cNvPicPr preferRelativeResize="0"/>
          <p:nvPr/>
        </p:nvPicPr>
        <p:blipFill>
          <a:blip r:embed="rId3">
            <a:alphaModFix/>
          </a:blip>
          <a:stretch>
            <a:fillRect/>
          </a:stretch>
        </p:blipFill>
        <p:spPr>
          <a:xfrm>
            <a:off x="445150" y="177675"/>
            <a:ext cx="8260802" cy="3805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a:ln cap="flat" cmpd="sng" w="28575">
            <a:solidFill>
              <a:srgbClr val="000000"/>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fr"/>
              <a:t>CONCLUSIONS</a:t>
            </a:r>
            <a:endParaRPr b="1"/>
          </a:p>
        </p:txBody>
      </p:sp>
      <p:sp>
        <p:nvSpPr>
          <p:cNvPr id="114" name="Google Shape;114;p22"/>
          <p:cNvSpPr txBox="1"/>
          <p:nvPr>
            <p:ph idx="1" type="body"/>
          </p:nvPr>
        </p:nvSpPr>
        <p:spPr>
          <a:xfrm>
            <a:off x="311700" y="1152475"/>
            <a:ext cx="8520600" cy="3809400"/>
          </a:xfrm>
          <a:prstGeom prst="rect">
            <a:avLst/>
          </a:prstGeom>
        </p:spPr>
        <p:txBody>
          <a:bodyPr anchorCtr="0" anchor="t" bIns="91425" lIns="91425" spcFirstLastPara="1" rIns="91425" wrap="square" tIns="91425">
            <a:normAutofit fontScale="62500" lnSpcReduction="20000"/>
          </a:bodyPr>
          <a:lstStyle/>
          <a:p>
            <a:pPr indent="0" lvl="0" marL="0" rtl="0" algn="l">
              <a:lnSpc>
                <a:spcPct val="135714"/>
              </a:lnSpc>
              <a:spcBef>
                <a:spcPts val="0"/>
              </a:spcBef>
              <a:spcAft>
                <a:spcPts val="0"/>
              </a:spcAft>
              <a:buClr>
                <a:schemeClr val="dk1"/>
              </a:buClr>
              <a:buSzPct val="44664"/>
              <a:buFont typeface="Arial"/>
              <a:buNone/>
            </a:pPr>
            <a:r>
              <a:rPr b="1" lang="fr" sz="2463" u="sng">
                <a:solidFill>
                  <a:schemeClr val="dk1"/>
                </a:solidFill>
                <a:highlight>
                  <a:schemeClr val="lt1"/>
                </a:highlight>
              </a:rPr>
              <a:t>Interprétation</a:t>
            </a:r>
            <a:r>
              <a:rPr b="1" lang="fr" sz="2463">
                <a:solidFill>
                  <a:schemeClr val="dk1"/>
                </a:solidFill>
                <a:highlight>
                  <a:schemeClr val="lt1"/>
                </a:highlight>
              </a:rPr>
              <a:t> :</a:t>
            </a:r>
            <a:endParaRPr b="1" sz="2463">
              <a:solidFill>
                <a:schemeClr val="dk1"/>
              </a:solidFill>
              <a:highlight>
                <a:schemeClr val="lt1"/>
              </a:highlight>
            </a:endParaRPr>
          </a:p>
          <a:p>
            <a:pPr indent="0" lvl="0" marL="0" rtl="0" algn="just">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KMeans fournit une partition géographique exhaustive utile pour la répartition uniforme de la flotte</a:t>
            </a:r>
            <a:endParaRPr sz="1660">
              <a:solidFill>
                <a:schemeClr val="dk1"/>
              </a:solidFill>
              <a:highlight>
                <a:schemeClr val="lt1"/>
              </a:highlight>
            </a:endParaRPr>
          </a:p>
          <a:p>
            <a:pPr indent="0" lvl="0" marL="0" rtl="0" algn="just">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DBSCAN identifie les vraies zones denses de pickups et isole les zones périphériques comme bruit</a:t>
            </a:r>
            <a:endParaRPr sz="1660">
              <a:solidFill>
                <a:schemeClr val="dk1"/>
              </a:solidFill>
              <a:highlight>
                <a:schemeClr val="lt1"/>
              </a:highlight>
            </a:endParaRPr>
          </a:p>
          <a:p>
            <a:pPr indent="0" lvl="0" marL="0" rtl="0" algn="just">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(plus proche de la réalité opérationnelle)</a:t>
            </a:r>
            <a:endParaRPr sz="1660">
              <a:solidFill>
                <a:schemeClr val="dk1"/>
              </a:solidFill>
              <a:highlight>
                <a:schemeClr val="lt1"/>
              </a:highlight>
            </a:endParaRPr>
          </a:p>
          <a:p>
            <a:pPr indent="0" lvl="0" marL="0" rtl="0" algn="just">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La densité des pickups varie fortement selon les jours et les heures :</a:t>
            </a:r>
            <a:endParaRPr sz="1660">
              <a:solidFill>
                <a:schemeClr val="dk1"/>
              </a:solidFill>
              <a:highlight>
                <a:schemeClr val="lt1"/>
              </a:highlight>
            </a:endParaRPr>
          </a:p>
          <a:p>
            <a:pPr indent="0" lvl="0" marL="0" rtl="0" algn="just">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ce qu'un chauffeur doit voir à 18h00 un vendredi dans les quartiers de Midtown, Williamsburg ou Downtown</a:t>
            </a:r>
            <a:endParaRPr sz="1660">
              <a:solidFill>
                <a:schemeClr val="dk1"/>
              </a:solidFill>
              <a:highlight>
                <a:schemeClr val="lt1"/>
              </a:highlight>
            </a:endParaRPr>
          </a:p>
          <a:p>
            <a:pPr indent="0" lvl="0" marL="0" rtl="0" algn="just">
              <a:lnSpc>
                <a:spcPct val="135714"/>
              </a:lnSpc>
              <a:spcBef>
                <a:spcPts val="0"/>
              </a:spcBef>
              <a:spcAft>
                <a:spcPts val="0"/>
              </a:spcAft>
              <a:buNone/>
            </a:pPr>
            <a:r>
              <a:rPr lang="fr" sz="1660">
                <a:solidFill>
                  <a:schemeClr val="dk1"/>
                </a:solidFill>
                <a:highlight>
                  <a:schemeClr val="lt1"/>
                </a:highlight>
              </a:rPr>
              <a:t>n'est pas identique à ce qu'il doit voir un lundi dans les quartiers des aéroports JFK ou La Guardia</a:t>
            </a:r>
            <a:endParaRPr sz="1660">
              <a:solidFill>
                <a:schemeClr val="dk1"/>
              </a:solidFill>
              <a:highlight>
                <a:schemeClr val="lt1"/>
              </a:highlight>
            </a:endParaRPr>
          </a:p>
          <a:p>
            <a:pPr indent="0" lvl="0" marL="0" rtl="0" algn="l">
              <a:lnSpc>
                <a:spcPct val="135714"/>
              </a:lnSpc>
              <a:spcBef>
                <a:spcPts val="0"/>
              </a:spcBef>
              <a:spcAft>
                <a:spcPts val="0"/>
              </a:spcAft>
              <a:buClr>
                <a:schemeClr val="dk1"/>
              </a:buClr>
              <a:buSzPct val="104762"/>
              <a:buFont typeface="Arial"/>
              <a:buNone/>
            </a:pPr>
            <a:r>
              <a:t/>
            </a:r>
            <a:endParaRPr sz="1050">
              <a:solidFill>
                <a:schemeClr val="dk1"/>
              </a:solidFill>
              <a:highlight>
                <a:schemeClr val="lt1"/>
              </a:highlight>
            </a:endParaRPr>
          </a:p>
          <a:p>
            <a:pPr indent="0" lvl="0" marL="0" rtl="0" algn="l">
              <a:lnSpc>
                <a:spcPct val="135714"/>
              </a:lnSpc>
              <a:spcBef>
                <a:spcPts val="0"/>
              </a:spcBef>
              <a:spcAft>
                <a:spcPts val="0"/>
              </a:spcAft>
              <a:buClr>
                <a:schemeClr val="dk1"/>
              </a:buClr>
              <a:buSzPct val="44664"/>
              <a:buFont typeface="Arial"/>
              <a:buNone/>
            </a:pPr>
            <a:r>
              <a:rPr b="1" lang="fr" sz="2463" u="sng">
                <a:solidFill>
                  <a:schemeClr val="dk1"/>
                </a:solidFill>
                <a:highlight>
                  <a:schemeClr val="lt1"/>
                </a:highlight>
              </a:rPr>
              <a:t>Recommandation</a:t>
            </a:r>
            <a:r>
              <a:rPr b="1" lang="fr" sz="2463">
                <a:solidFill>
                  <a:schemeClr val="dk1"/>
                </a:solidFill>
                <a:highlight>
                  <a:schemeClr val="lt1"/>
                </a:highlight>
              </a:rPr>
              <a:t> </a:t>
            </a:r>
            <a:r>
              <a:rPr lang="fr" sz="2463">
                <a:solidFill>
                  <a:schemeClr val="dk1"/>
                </a:solidFill>
                <a:highlight>
                  <a:schemeClr val="lt1"/>
                </a:highlight>
              </a:rPr>
              <a:t>:</a:t>
            </a:r>
            <a:r>
              <a:rPr lang="fr" sz="2143">
                <a:solidFill>
                  <a:schemeClr val="dk1"/>
                </a:solidFill>
                <a:highlight>
                  <a:schemeClr val="lt1"/>
                </a:highlight>
              </a:rPr>
              <a:t> </a:t>
            </a:r>
            <a:r>
              <a:rPr b="1" lang="fr" sz="2000">
                <a:solidFill>
                  <a:schemeClr val="dk1"/>
                </a:solidFill>
                <a:highlight>
                  <a:schemeClr val="lt1"/>
                </a:highlight>
              </a:rPr>
              <a:t>combiner les deux</a:t>
            </a:r>
            <a:r>
              <a:rPr lang="fr" sz="2000">
                <a:solidFill>
                  <a:schemeClr val="dk1"/>
                </a:solidFill>
                <a:highlight>
                  <a:schemeClr val="lt1"/>
                </a:highlight>
              </a:rPr>
              <a:t> :</a:t>
            </a:r>
            <a:endParaRPr sz="2000">
              <a:solidFill>
                <a:schemeClr val="dk1"/>
              </a:solidFill>
              <a:highlight>
                <a:schemeClr val="lt1"/>
              </a:highlight>
            </a:endParaRPr>
          </a:p>
          <a:p>
            <a:pPr indent="0" lvl="0" marL="0" rtl="0" algn="just">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KMeans pour la vue stratégique 24h</a:t>
            </a:r>
            <a:endParaRPr sz="1660">
              <a:solidFill>
                <a:schemeClr val="dk1"/>
              </a:solidFill>
              <a:highlight>
                <a:schemeClr val="lt1"/>
              </a:highlight>
            </a:endParaRPr>
          </a:p>
          <a:p>
            <a:pPr indent="0" lvl="0" marL="0" rtl="0" algn="just">
              <a:lnSpc>
                <a:spcPct val="135714"/>
              </a:lnSpc>
              <a:spcBef>
                <a:spcPts val="0"/>
              </a:spcBef>
              <a:spcAft>
                <a:spcPts val="0"/>
              </a:spcAft>
              <a:buNone/>
            </a:pPr>
            <a:r>
              <a:rPr lang="fr" sz="1660">
                <a:solidFill>
                  <a:schemeClr val="dk1"/>
                </a:solidFill>
                <a:highlight>
                  <a:schemeClr val="lt1"/>
                </a:highlight>
              </a:rPr>
              <a:t>DBSCAN pour la vue tactique en temps réel (avec mise à jour toutes les 15 minutes sur fenêtre glissante)</a:t>
            </a:r>
            <a:endParaRPr sz="1660">
              <a:solidFill>
                <a:schemeClr val="dk1"/>
              </a:solidFill>
              <a:highlight>
                <a:schemeClr val="lt1"/>
              </a:highlight>
            </a:endParaRPr>
          </a:p>
          <a:p>
            <a:pPr indent="0" lvl="0" marL="0" rtl="0" algn="l">
              <a:lnSpc>
                <a:spcPct val="135714"/>
              </a:lnSpc>
              <a:spcBef>
                <a:spcPts val="0"/>
              </a:spcBef>
              <a:spcAft>
                <a:spcPts val="0"/>
              </a:spcAft>
              <a:buClr>
                <a:schemeClr val="dk1"/>
              </a:buClr>
              <a:buSzPct val="104762"/>
              <a:buFont typeface="Arial"/>
              <a:buNone/>
            </a:pPr>
            <a:r>
              <a:t/>
            </a:r>
            <a:endParaRPr sz="1050">
              <a:solidFill>
                <a:schemeClr val="dk1"/>
              </a:solidFill>
              <a:highlight>
                <a:schemeClr val="lt1"/>
              </a:highlight>
            </a:endParaRPr>
          </a:p>
          <a:p>
            <a:pPr indent="0" lvl="0" marL="0" rtl="0" algn="l">
              <a:lnSpc>
                <a:spcPct val="135714"/>
              </a:lnSpc>
              <a:spcBef>
                <a:spcPts val="0"/>
              </a:spcBef>
              <a:spcAft>
                <a:spcPts val="0"/>
              </a:spcAft>
              <a:buClr>
                <a:schemeClr val="dk1"/>
              </a:buClr>
              <a:buSzPct val="44664"/>
              <a:buFont typeface="Arial"/>
              <a:buNone/>
            </a:pPr>
            <a:r>
              <a:rPr b="1" lang="fr" sz="2463" u="sng">
                <a:solidFill>
                  <a:schemeClr val="dk1"/>
                </a:solidFill>
                <a:highlight>
                  <a:schemeClr val="lt1"/>
                </a:highlight>
              </a:rPr>
              <a:t>Perspectives envisageables</a:t>
            </a:r>
            <a:r>
              <a:rPr b="1" lang="fr" sz="2463">
                <a:solidFill>
                  <a:schemeClr val="dk1"/>
                </a:solidFill>
                <a:highlight>
                  <a:schemeClr val="lt1"/>
                </a:highlight>
              </a:rPr>
              <a:t> :</a:t>
            </a:r>
            <a:endParaRPr b="1" sz="2463">
              <a:solidFill>
                <a:schemeClr val="dk1"/>
              </a:solidFill>
              <a:highlight>
                <a:schemeClr val="lt1"/>
              </a:highlight>
            </a:endParaRPr>
          </a:p>
          <a:p>
            <a:pPr indent="0" lvl="0" marL="0" rtl="0" algn="just">
              <a:lnSpc>
                <a:spcPct val="135714"/>
              </a:lnSpc>
              <a:spcBef>
                <a:spcPts val="0"/>
              </a:spcBef>
              <a:spcAft>
                <a:spcPts val="0"/>
              </a:spcAft>
              <a:buNone/>
            </a:pPr>
            <a:r>
              <a:rPr lang="fr" sz="1660">
                <a:solidFill>
                  <a:schemeClr val="dk1"/>
                </a:solidFill>
                <a:highlight>
                  <a:schemeClr val="lt1"/>
                </a:highlight>
              </a:rPr>
              <a:t>Métrique haversine plutôt qu'euclidienne standardisée (DBSCAN avec metric='haversine' sur radians)</a:t>
            </a:r>
            <a:endParaRPr sz="1660">
              <a:solidFill>
                <a:schemeClr val="dk1"/>
              </a:solidFill>
              <a:highlight>
                <a:schemeClr val="lt1"/>
              </a:highlight>
            </a:endParaRPr>
          </a:p>
          <a:p>
            <a:pPr indent="0" lvl="0" marL="0" rtl="0" algn="just">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afin de tenir compte de l’allure sphérique de la Terre</a:t>
            </a:r>
            <a:endParaRPr sz="1660">
              <a:solidFill>
                <a:schemeClr val="dk1"/>
              </a:solidFill>
              <a:highlight>
                <a:schemeClr val="lt1"/>
              </a:highlight>
            </a:endParaRPr>
          </a:p>
          <a:p>
            <a:pPr indent="0" lvl="0" marL="0" rtl="0" algn="just">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HDBSCAN pour éviter le réglage manuel d'EPS</a:t>
            </a:r>
            <a:endParaRPr sz="1660">
              <a:solidFill>
                <a:schemeClr val="dk1"/>
              </a:solidFill>
              <a:highlight>
                <a:schemeClr val="lt1"/>
              </a:highlight>
            </a:endParaRPr>
          </a:p>
          <a:p>
            <a:pPr indent="0" lvl="0" marL="0" rtl="0" algn="just">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Dashboard Plotly Dash / Streamlit en temps réel pour l'application chauffeur</a:t>
            </a:r>
            <a:endParaRPr sz="1660">
              <a:solidFill>
                <a:schemeClr val="dk1"/>
              </a:solidFill>
              <a:highlight>
                <a:schemeClr val="lt1"/>
              </a:highlight>
            </a:endParaRPr>
          </a:p>
          <a:p>
            <a:pPr indent="0" lvl="0" marL="0" rtl="0" algn="l">
              <a:lnSpc>
                <a:spcPct val="135714"/>
              </a:lnSpc>
              <a:spcBef>
                <a:spcPts val="0"/>
              </a:spcBef>
              <a:spcAft>
                <a:spcPts val="0"/>
              </a:spcAft>
              <a:buClr>
                <a:schemeClr val="dk1"/>
              </a:buClr>
              <a:buSzPct val="66265"/>
              <a:buFont typeface="Arial"/>
              <a:buNone/>
            </a:pPr>
            <a:r>
              <a:rPr lang="fr" sz="1660">
                <a:solidFill>
                  <a:schemeClr val="dk1"/>
                </a:solidFill>
                <a:highlight>
                  <a:schemeClr val="lt1"/>
                </a:highlight>
              </a:rPr>
              <a:t>A/B test : mesurer la réduction effective du temps d'attente suite au déploiement</a:t>
            </a:r>
            <a:endParaRPr sz="1660">
              <a:solidFill>
                <a:schemeClr val="dk1"/>
              </a:solidFill>
              <a:highlight>
                <a:schemeClr val="lt1"/>
              </a:highlight>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